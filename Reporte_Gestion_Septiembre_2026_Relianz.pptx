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5" r:id="rId5"/>
    <p:sldId id="261" r:id="rId6"/>
    <p:sldId id="266" r:id="rId13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0937A1F8-3EE7-7D00-7ECB-B972002D602E}">
          <p14:sldIdLst>
            <p14:sldId id="256"/>
          </p14:sldIdLst>
        </p14:section>
        <p14:section name="Resumen" id="{CE188AF8-210F-9B74-A8F4-51BF6ED7C664}">
          <p14:sldIdLst>
            <p14:sldId id="257"/>
          </p14:sldIdLst>
        </p14:section>
        <p14:section name="Desempeño" id="{3A1DFDA4-CC34-8B96-A320-33CCCB161285}">
          <p14:sldIdLst>
            <p14:sldId id="258"/>
            <p14:sldId id="265"/>
          </p14:sldIdLst>
        </p14:section>
        <p14:section name="Estado y carga" id="{46640B11-EBE4-C08B-C0A3-EF0038BECD77}">
          <p14:sldIdLst>
            <p14:sldId id="261"/>
          </p14:sldIdLst>
        </p14:section>
        <p14:section name="Conclusiones" id="{9C271E28-5F8C-A1BD-0B8B-692959E51C26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Solicitados</c:v>
                </c:pt>
              </c:strCache>
            </c:strRef>
          </c:tx>
          <c:spPr>
            <a:solidFill>
              <a:srgbClr val="8A909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AB32-4EBD-B8ED-847A3D209F3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B32-4EBD-B8ED-847A3D209F3A}"/>
              </c:ext>
            </c:extLst>
          </c:dPt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8191A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Proyectos</c:v>
                </c:pt>
                <c:pt idx="1">
                  <c:v>Rutas y tiempos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32-4EBD-B8ED-847A3D209F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Cerrados en el período</c:v>
                </c:pt>
              </c:strCache>
            </c:strRef>
          </c:tx>
          <c:spPr>
            <a:solidFill>
              <a:srgbClr val="18191A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8191A"/>
                    </a:solidFill>
                    <a:latin typeface="+mn-lt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Proyectos</c:v>
                </c:pt>
                <c:pt idx="1">
                  <c:v>Rutas y tiempos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B32-4EBD-B8ED-847A3D209F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5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E6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F5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F5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Arial"/>
              </a:defRPr>
            </a:pPr>
            <a:r>
              <a:rPr lang="es-CO" sz="1400" b="0" i="0" u="none" strike="noStrike">
                <a:solidFill>
                  <a:srgbClr val="111111"/>
                </a:solidFill>
                <a:latin typeface="Arial"/>
              </a:rPr>
              <a:t>Proyectos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Solicitados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4</c:v>
                </c:pt>
                <c:pt idx="2">
                  <c:v>0</c:v>
                </c:pt>
                <c:pt idx="3">
                  <c:v>7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0C-4BA6-B805-FC9224351F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0C-4BA6-B805-FC9224351F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Arial"/>
              </a:defRPr>
            </a:pPr>
            <a:r>
              <a:rPr lang="es-CO" sz="1400" b="0" i="0" u="none" strike="noStrike">
                <a:solidFill>
                  <a:srgbClr val="111111"/>
                </a:solidFill>
                <a:latin typeface="Arial"/>
              </a:rPr>
              <a:t>Rutas y Tiempos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Solicitados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E9-417F-B554-A021089C67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Cerrados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1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Sem 1</c:v>
                </c:pt>
                <c:pt idx="1">
                  <c:v>Sem 2</c:v>
                </c:pt>
                <c:pt idx="2">
                  <c:v>Sem 3</c:v>
                </c:pt>
                <c:pt idx="3">
                  <c:v>Sem 4</c:v>
                </c:pt>
                <c:pt idx="4">
                  <c:v>Sem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</c:v>
                </c:pt>
                <c:pt idx="1">
                  <c:v>1</c:v>
                </c:pt>
                <c:pt idx="2">
                  <c:v>1</c:v>
                </c:pt>
                <c:pt idx="3">
                  <c:v>9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E9-417F-B554-A021089C67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Cerradas en el período</c:v>
                </c:pt>
              </c:strCache>
            </c:strRef>
          </c:tx>
          <c:spPr>
            <a:solidFill>
              <a:srgbClr val="FFC20E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Carlos Martinez</c:v>
                </c:pt>
                <c:pt idx="1">
                  <c:v>Edwin Meza</c:v>
                </c:pt>
                <c:pt idx="2">
                  <c:v>Henry Candelario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89-4F40-BDFF-2A968999D1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Carga actual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Carlos Martinez</c:v>
                </c:pt>
                <c:pt idx="1">
                  <c:v>Edwin Meza</c:v>
                </c:pt>
                <c:pt idx="2">
                  <c:v>Henry Candelario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</c:v>
                </c:pt>
                <c:pt idx="1">
                  <c:v>14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89-4F40-BDFF-2A968999D1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Vencidas</c:v>
                </c:pt>
              </c:strCache>
            </c:strRef>
          </c:tx>
          <c:spPr>
            <a:solidFill>
              <a:srgbClr val="E06666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Carlos Martinez</c:v>
                </c:pt>
                <c:pt idx="1">
                  <c:v>Edwin Meza</c:v>
                </c:pt>
                <c:pt idx="2">
                  <c:v>Henry Candelario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489-4F40-BDFF-2A968999D1C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Suspendidas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;;;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>
                    <a:solidFill>
                      <a:srgbClr val="111111"/>
                    </a:solidFill>
                    <a:latin typeface="Calibri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Carlos Martinez</c:v>
                </c:pt>
                <c:pt idx="1">
                  <c:v>Edwin Meza</c:v>
                </c:pt>
                <c:pt idx="2">
                  <c:v>Henry Candelario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489-4F40-BDFF-2A968999D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8C8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A3A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64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Reporte mensual de gestión del área de Ingeniería y Desarrollo. Datos tomados del dashboard de septiembre 2026 (hoja Proyectos y Rutas).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líneas de trabajo con comportamientos opuestos: rutas al día, proyectos represados.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rutas de proceso son trabajo operativo de ciclo corto; los proyectos requieren bloques de tiempo que hoy no existen.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Solicitados según fecha de solicitud; cerrados según fecha de cierre (hasta el 30/09).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hallazgos sostienen las acciones propuestas en la siguiente lámina.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819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RELIANZ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148840"/>
            <a:ext cx="6675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794760"/>
            <a:ext cx="66751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4A4F54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dirty="0">
                <a:solidFill>
                  <a:srgbClr val="4A4F54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Text 0"/>
          <p:cNvSpPr txBox="1"/>
          <p:nvPr/>
        </p:nvSpPr>
        <p:spPr>
          <a:xfrm>
            <a:off x="640080" y="63276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Relianz  ·  Ingeniería y Desarrollo  ·  Septiembre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33984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dirty="0">
                <a:solidFill>
                  <a:schemeClr val="accent3"/>
                </a:solidFill>
              </a:rPr>
              <a:t>RELIANZ  ·  Reporte de Gestión  ·  Septiembre 2026</a:t>
            </a:r>
            <a:endParaRPr lang="en-US" sz="1333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42672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1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633984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3" dirty="0">
                <a:solidFill>
                  <a:schemeClr val="accent3"/>
                </a:solidFill>
              </a:rPr>
              <a:t>RELIANZ  ·  Reporte de Gestión  ·  Septiembre 2026</a:t>
            </a:r>
            <a:endParaRPr lang="en-US" sz="1333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42672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6609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148840"/>
            <a:ext cx="6675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s-CO" sz="3800" b="1" noProof="0" dirty="0">
                <a:solidFill>
                  <a:schemeClr val="tx1"/>
                </a:solidFill>
              </a:rPr>
              <a:t>Reporte de Gestión</a:t>
            </a:r>
            <a:endParaRPr lang="es-CO" sz="3800" noProof="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379476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500" noProof="0" dirty="0">
                <a:solidFill>
                  <a:srgbClr val="4A4F54"/>
                </a:solidFill>
              </a:rPr>
              <a:t>Área de Ingeniería y Desarrollo  ·  Septiembre 2026</a:t>
            </a:r>
            <a:endParaRPr lang="es-CO" sz="1500" noProof="0" dirty="0"/>
          </a:p>
        </p:txBody>
      </p:sp>
      <p:sp>
        <p:nvSpPr>
          <p:cNvPr id="4" name="bloque-portada"/>
          <p:cNvSpPr/>
          <p:nvPr/>
        </p:nvSpPr>
        <p:spPr>
          <a:xfrm>
            <a:off x="7955280" y="137160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18191A"/>
          </a:solidFill>
          <a:ln w="12700">
            <a:solidFill>
              <a:srgbClr val="18191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Text 3"/>
          <p:cNvSpPr txBox="1"/>
          <p:nvPr/>
        </p:nvSpPr>
        <p:spPr>
          <a:xfrm>
            <a:off x="8366760" y="17830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000" b="1" noProof="0" dirty="0">
                <a:solidFill>
                  <a:srgbClr val="FFCD11"/>
                </a:solidFill>
              </a:rPr>
              <a:t>39</a:t>
            </a:r>
            <a:endParaRPr lang="es-CO" sz="4000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36676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FFFFFF"/>
                </a:solidFill>
              </a:rPr>
              <a:t>solicitudes recibidas</a:t>
            </a:r>
            <a:endParaRPr lang="es-CO" sz="12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8366760" y="30632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000" b="1" noProof="0" dirty="0">
                <a:solidFill>
                  <a:srgbClr val="FFCD11"/>
                </a:solidFill>
              </a:rPr>
              <a:t>20</a:t>
            </a:r>
            <a:endParaRPr lang="es-CO" sz="40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3721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FFFFFF"/>
                </a:solidFill>
              </a:rPr>
              <a:t>cerradas en el mes</a:t>
            </a:r>
            <a:endParaRPr lang="es-CO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8366760" y="4343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000" b="1" noProof="0" dirty="0">
                <a:solidFill>
                  <a:srgbClr val="FFCD11"/>
                </a:solidFill>
              </a:rPr>
              <a:t>18</a:t>
            </a:r>
            <a:endParaRPr lang="es-CO" sz="40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8366760" y="5001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noProof="0" dirty="0">
                <a:solidFill>
                  <a:srgbClr val="FFFFFF"/>
                </a:solidFill>
              </a:rPr>
              <a:t>abiertas al 30/09</a:t>
            </a:r>
            <a:endParaRPr lang="es-CO" sz="1200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000" noProof="0" dirty="0">
                <a:solidFill>
                  <a:srgbClr val="8A9096"/>
                </a:solidFill>
              </a:rPr>
              <a:t>Preparado por Ingeniería y Desarrollo  ·  Relianz</a:t>
            </a:r>
            <a:endParaRPr lang="es-CO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2800" b="1" noProof="0" dirty="0">
                <a:solidFill>
                  <a:schemeClr val="tx1"/>
                </a:solidFill>
              </a:rPr>
              <a:t>Resumen de septiembre</a:t>
            </a:r>
            <a:endParaRPr lang="es-CO" sz="2800" noProof="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39 solicitudes recibidas entre proyectos y rutas de proceso; el cierre se concentró en rutas y tiempos.</a:t>
            </a:r>
            <a:endParaRPr lang="es-CO" sz="1300" noProof="0" dirty="0"/>
          </a:p>
        </p:txBody>
      </p:sp>
      <p:sp>
        <p:nvSpPr>
          <p:cNvPr id="4" name="kpi-0"/>
          <p:cNvSpPr/>
          <p:nvPr/>
        </p:nvSpPr>
        <p:spPr>
          <a:xfrm>
            <a:off x="64008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kpi-punto-0"/>
          <p:cNvSpPr/>
          <p:nvPr/>
        </p:nvSpPr>
        <p:spPr>
          <a:xfrm>
            <a:off x="868680" y="1920240"/>
            <a:ext cx="164592" cy="164592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762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400" b="1" noProof="0" dirty="0">
                <a:solidFill>
                  <a:srgbClr val="18191A"/>
                </a:solidFill>
              </a:rPr>
              <a:t>39</a:t>
            </a:r>
            <a:endParaRPr lang="es-CO" sz="44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077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Solicitudes recibidas</a:t>
            </a:r>
            <a:endParaRPr lang="es-CO" sz="13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821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4A4F54"/>
                </a:solidFill>
              </a:rPr>
              <a:t>20 proyectos + 19 rutas</a:t>
            </a:r>
            <a:endParaRPr lang="es-CO" sz="1100" noProof="0" dirty="0"/>
          </a:p>
        </p:txBody>
      </p:sp>
      <p:sp>
        <p:nvSpPr>
          <p:cNvPr id="9" name="kpi-1"/>
          <p:cNvSpPr/>
          <p:nvPr/>
        </p:nvSpPr>
        <p:spPr>
          <a:xfrm>
            <a:off x="342900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kpi-punto-1"/>
          <p:cNvSpPr/>
          <p:nvPr/>
        </p:nvSpPr>
        <p:spPr>
          <a:xfrm>
            <a:off x="3657600" y="1920240"/>
            <a:ext cx="164592" cy="164592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1762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400" b="1" noProof="0" dirty="0">
                <a:solidFill>
                  <a:srgbClr val="18191A"/>
                </a:solidFill>
              </a:rPr>
              <a:t>20</a:t>
            </a:r>
            <a:endParaRPr lang="es-CO" sz="44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9077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Cerradas en el período</a:t>
            </a:r>
            <a:endParaRPr lang="es-CO" sz="13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1821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4A4F54"/>
                </a:solidFill>
              </a:rPr>
              <a:t>51% de lo recibido</a:t>
            </a:r>
            <a:endParaRPr lang="es-CO" sz="1100" noProof="0" dirty="0"/>
          </a:p>
        </p:txBody>
      </p:sp>
      <p:sp>
        <p:nvSpPr>
          <p:cNvPr id="14" name="kpi-2"/>
          <p:cNvSpPr/>
          <p:nvPr/>
        </p:nvSpPr>
        <p:spPr>
          <a:xfrm>
            <a:off x="621792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kpi-punto-2"/>
          <p:cNvSpPr/>
          <p:nvPr/>
        </p:nvSpPr>
        <p:spPr>
          <a:xfrm>
            <a:off x="6446520" y="1920240"/>
            <a:ext cx="164592" cy="164592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1762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400" b="1" noProof="0" dirty="0">
                <a:solidFill>
                  <a:srgbClr val="18191A"/>
                </a:solidFill>
              </a:rPr>
              <a:t>1,8</a:t>
            </a:r>
            <a:endParaRPr lang="es-CO" sz="44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9077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Días promedio de cierre</a:t>
            </a:r>
            <a:endParaRPr lang="es-CO" sz="13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1821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4A4F54"/>
                </a:solidFill>
              </a:rPr>
              <a:t>Medido sobre lo cerrado</a:t>
            </a:r>
            <a:endParaRPr lang="es-CO" sz="1100" noProof="0" dirty="0"/>
          </a:p>
        </p:txBody>
      </p:sp>
      <p:sp>
        <p:nvSpPr>
          <p:cNvPr id="19" name="kpi-3"/>
          <p:cNvSpPr/>
          <p:nvPr/>
        </p:nvSpPr>
        <p:spPr>
          <a:xfrm>
            <a:off x="9006840" y="169164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kpi-punto-3"/>
          <p:cNvSpPr/>
          <p:nvPr/>
        </p:nvSpPr>
        <p:spPr>
          <a:xfrm>
            <a:off x="9235440" y="1920240"/>
            <a:ext cx="164592" cy="164592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176272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4400" b="1" noProof="0" dirty="0">
                <a:solidFill>
                  <a:srgbClr val="18191A"/>
                </a:solidFill>
              </a:rPr>
              <a:t>18</a:t>
            </a:r>
            <a:endParaRPr lang="es-CO" sz="44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9077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Abiertas al cierre</a:t>
            </a:r>
            <a:endParaRPr lang="es-CO" sz="13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1821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100" noProof="0" dirty="0">
                <a:solidFill>
                  <a:srgbClr val="4A4F54"/>
                </a:solidFill>
              </a:rPr>
              <a:t>17 son proyectos</a:t>
            </a:r>
            <a:endParaRPr lang="es-CO" sz="1100" noProof="0" dirty="0"/>
          </a:p>
        </p:txBody>
      </p:sp>
      <p:sp>
        <p:nvSpPr>
          <p:cNvPr id="24" name="mensaje"/>
          <p:cNvSpPr/>
          <p:nvPr/>
        </p:nvSpPr>
        <p:spPr>
          <a:xfrm>
            <a:off x="640080" y="397764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18191A"/>
          </a:solidFill>
          <a:ln w="12700">
            <a:solidFill>
              <a:srgbClr val="18191A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20624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200" b="1" noProof="0" dirty="0">
                <a:solidFill>
                  <a:srgbClr val="FFCD11"/>
                </a:solidFill>
              </a:rPr>
              <a:t>Mensaje principal</a:t>
            </a:r>
            <a:endParaRPr lang="es-CO" sz="1200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45262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s-CO" sz="1500" noProof="0" dirty="0">
                <a:solidFill>
                  <a:srgbClr val="FFFFFF"/>
                </a:solidFill>
              </a:rPr>
              <a:t>El servicio de rutas y tiempos opera al día: 18 de 19 solicitudes cerradas en 1,8 días promedio. Los proyectos, en cambio, acumulan 17 solicitudes abiertas y 9 vencidas, porque compiten por el mismo equipo que atiende la operación diaria.</a:t>
            </a:r>
            <a:endParaRPr lang="es-CO" sz="1500" noProof="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s-CO" b="0" noProof="0" smtClean="0"/>
              <a:t>2</a:t>
            </a:fld>
            <a:endParaRPr lang="es-CO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318276" y="1200710"/>
            <a:ext cx="55554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Comparación de lo solicitado y lo cerrado dentro del período, por categoría.</a:t>
            </a:r>
            <a:endParaRPr lang="es-CO" sz="1300" noProof="0" dirty="0"/>
          </a:p>
        </p:txBody>
      </p:sp>
      <p:graphicFrame>
        <p:nvGraphicFramePr>
          <p:cNvPr id="4" name="grafico-categorias"/>
          <p:cNvGraphicFramePr/>
          <p:nvPr>
            <p:extLst>
              <p:ext uri="{D42A27DB-BD31-4B8C-83A1-F6EECF244321}">
                <p14:modId xmlns:p14="http://schemas.microsoft.com/office/powerpoint/2010/main" val="562036125"/>
              </p:ext>
            </p:extLst>
          </p:nvPr>
        </p:nvGraphicFramePr>
        <p:xfrm>
          <a:off x="640080" y="1645920"/>
          <a:ext cx="6492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punto-1"/>
          <p:cNvSpPr/>
          <p:nvPr/>
        </p:nvSpPr>
        <p:spPr>
          <a:xfrm>
            <a:off x="7510272" y="3721608"/>
            <a:ext cx="310896" cy="310896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3"/>
          <p:cNvSpPr txBox="1"/>
          <p:nvPr/>
        </p:nvSpPr>
        <p:spPr>
          <a:xfrm>
            <a:off x="7510272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1</a:t>
            </a:r>
            <a:endParaRPr lang="es-CO" sz="1300" noProof="0" dirty="0"/>
          </a:p>
        </p:txBody>
      </p:sp>
      <p:sp>
        <p:nvSpPr>
          <p:cNvPr id="7" name="Text 4"/>
          <p:cNvSpPr txBox="1"/>
          <p:nvPr/>
        </p:nvSpPr>
        <p:spPr>
          <a:xfrm>
            <a:off x="7985760" y="37033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18191A"/>
                </a:solidFill>
              </a:rPr>
              <a:t>Rutas y tiempos</a:t>
            </a:r>
            <a:endParaRPr lang="es-CO" sz="1500" noProof="0" dirty="0"/>
          </a:p>
        </p:txBody>
      </p:sp>
      <p:sp>
        <p:nvSpPr>
          <p:cNvPr id="8" name="Text 5"/>
          <p:cNvSpPr txBox="1"/>
          <p:nvPr/>
        </p:nvSpPr>
        <p:spPr>
          <a:xfrm>
            <a:off x="7985760" y="3862399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18 de 19 cerradas (95%) en 1,8 días promedio. Solo 1 queda abierta.</a:t>
            </a:r>
            <a:endParaRPr lang="es-CO" sz="1300" noProof="0" dirty="0"/>
          </a:p>
        </p:txBody>
      </p:sp>
      <p:sp>
        <p:nvSpPr>
          <p:cNvPr id="9" name="punto-2"/>
          <p:cNvSpPr/>
          <p:nvPr/>
        </p:nvSpPr>
        <p:spPr>
          <a:xfrm>
            <a:off x="7510272" y="4992624"/>
            <a:ext cx="310896" cy="310896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Text 7"/>
          <p:cNvSpPr txBox="1"/>
          <p:nvPr/>
        </p:nvSpPr>
        <p:spPr>
          <a:xfrm>
            <a:off x="7510272" y="4992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2</a:t>
            </a:r>
            <a:endParaRPr lang="es-CO" sz="1300" noProof="0" dirty="0"/>
          </a:p>
        </p:txBody>
      </p:sp>
      <p:sp>
        <p:nvSpPr>
          <p:cNvPr id="11" name="Text 8"/>
          <p:cNvSpPr txBox="1"/>
          <p:nvPr/>
        </p:nvSpPr>
        <p:spPr>
          <a:xfrm>
            <a:off x="7985760" y="49743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500" b="1" noProof="0" dirty="0">
                <a:solidFill>
                  <a:srgbClr val="18191A"/>
                </a:solidFill>
              </a:rPr>
              <a:t>Proyectos</a:t>
            </a:r>
            <a:endParaRPr lang="es-CO" sz="1500" noProof="0" dirty="0"/>
          </a:p>
        </p:txBody>
      </p:sp>
      <p:sp>
        <p:nvSpPr>
          <p:cNvPr id="12" name="Text 9"/>
          <p:cNvSpPr txBox="1"/>
          <p:nvPr/>
        </p:nvSpPr>
        <p:spPr>
          <a:xfrm>
            <a:off x="7985760" y="5175504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2 de 20 cerrados dentro del mes. 17 siguen abiertos al 30 de septiembre.</a:t>
            </a:r>
            <a:endParaRPr lang="es-CO" sz="13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s-CO" b="0" noProof="0" smtClean="0"/>
              <a:t>3</a:t>
            </a:fld>
            <a:endParaRPr lang="es-CO" noProof="0" dirty="0"/>
          </a:p>
        </p:txBody>
      </p:sp>
      <p:sp>
        <p:nvSpPr>
          <p:cNvPr id="18" name="KPI Solicitados">
            <a:extLst>
              <a:ext uri="{FF2B5EF4-FFF2-40B4-BE49-F238E27FC236}">
                <a16:creationId xmlns:a16="http://schemas.microsoft.com/office/drawing/2014/main" id="{B606AA45-D3A3-6042-188E-AADD24492F52}"/>
              </a:ext>
            </a:extLst>
          </p:cNvPr>
          <p:cNvSpPr/>
          <p:nvPr/>
        </p:nvSpPr>
        <p:spPr>
          <a:xfrm>
            <a:off x="7510272" y="1921640"/>
            <a:ext cx="2024494" cy="1426464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B12C39D5-C303-9E27-2B2E-E182D4ABDAB2}"/>
              </a:ext>
            </a:extLst>
          </p:cNvPr>
          <p:cNvSpPr txBox="1"/>
          <p:nvPr/>
        </p:nvSpPr>
        <p:spPr>
          <a:xfrm>
            <a:off x="7474878" y="2091312"/>
            <a:ext cx="2024494" cy="845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5333" b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s-CO" sz="5333" noProof="0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486521BE-1528-3A4C-D021-6E52507B7C49}"/>
              </a:ext>
            </a:extLst>
          </p:cNvPr>
          <p:cNvSpPr txBox="1"/>
          <p:nvPr/>
        </p:nvSpPr>
        <p:spPr>
          <a:xfrm>
            <a:off x="7810942" y="2872616"/>
            <a:ext cx="137376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1200" noProof="0" dirty="0">
                <a:solidFill>
                  <a:schemeClr val="tx1"/>
                </a:solidFill>
              </a:rPr>
              <a:t>Solicitados</a:t>
            </a:r>
            <a:endParaRPr lang="es-CO" sz="1200" noProof="0" dirty="0"/>
          </a:p>
        </p:txBody>
      </p:sp>
      <p:sp>
        <p:nvSpPr>
          <p:cNvPr id="24" name="KPI Cerrados en el período (51%)">
            <a:extLst>
              <a:ext uri="{FF2B5EF4-FFF2-40B4-BE49-F238E27FC236}">
                <a16:creationId xmlns:a16="http://schemas.microsoft.com/office/drawing/2014/main" id="{A711C414-12B1-E1A5-DAB3-957E7CB3A4BD}"/>
              </a:ext>
            </a:extLst>
          </p:cNvPr>
          <p:cNvSpPr/>
          <p:nvPr/>
        </p:nvSpPr>
        <p:spPr>
          <a:xfrm>
            <a:off x="9662160" y="1954577"/>
            <a:ext cx="2225040" cy="1429512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BCDD4E31-3186-AD73-5752-50C1B9C58DE0}"/>
              </a:ext>
            </a:extLst>
          </p:cNvPr>
          <p:cNvSpPr txBox="1"/>
          <p:nvPr/>
        </p:nvSpPr>
        <p:spPr>
          <a:xfrm>
            <a:off x="9662160" y="1954577"/>
            <a:ext cx="2225040" cy="847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5333" b="1" noProof="0" dirty="0"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s-CO" sz="5333" noProof="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3A768B24-76BC-8B8F-7AEB-044AE52E9DEF}"/>
              </a:ext>
            </a:extLst>
          </p:cNvPr>
          <p:cNvSpPr txBox="1"/>
          <p:nvPr/>
        </p:nvSpPr>
        <p:spPr>
          <a:xfrm>
            <a:off x="9784080" y="2846625"/>
            <a:ext cx="2013131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s-CO" sz="1600" noProof="0" dirty="0"/>
              <a:t>Cerrados en el período </a:t>
            </a: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E4700F15-927A-AFA4-7D8F-4A8DF2C078CB}"/>
              </a:ext>
            </a:extLst>
          </p:cNvPr>
          <p:cNvSpPr txBox="1">
            <a:spLocks/>
          </p:cNvSpPr>
          <p:nvPr/>
        </p:nvSpPr>
        <p:spPr>
          <a:xfrm>
            <a:off x="457200" y="322373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1300" kern="1200" dirty="0">
                <a:solidFill>
                  <a:srgbClr val="4A4F54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s-CO" sz="4000" b="1" noProof="0" dirty="0">
                <a:solidFill>
                  <a:schemeClr val="tx1"/>
                </a:solidFill>
                <a:latin typeface="Arial" pitchFamily="34" charset="0"/>
                <a:cs typeface="Arial" pitchFamily="34" charset="-120"/>
              </a:rPr>
              <a:t>Resumen del período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426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Solicitados vs cerrados por semana</a:t>
            </a:r>
          </a:p>
        </p:txBody>
      </p:sp>
      <p:graphicFrame>
        <p:nvGraphicFramePr>
          <p:cNvPr id="3" name="Chart 0"/>
          <p:cNvGraphicFramePr/>
          <p:nvPr/>
        </p:nvGraphicFramePr>
        <p:xfrm>
          <a:off x="609600" y="1463040"/>
          <a:ext cx="5364480" cy="3901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6217920" y="1463040"/>
          <a:ext cx="5364480" cy="3901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09600" y="554736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/>
              <a:t>Proyectos: </a:t>
            </a:r>
            <a:r>
              <a:rPr lang="en-US" sz="2133" dirty="0"/>
              <a:t>2 de 20 cerrados.   </a:t>
            </a:r>
            <a:r>
              <a:rPr lang="en-US" sz="2133" b="1" dirty="0"/>
              <a:t>Rutas y Tiempos: </a:t>
            </a:r>
            <a:r>
              <a:rPr lang="en-US" sz="2133" dirty="0"/>
              <a:t>18 de 19 cerradas.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426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Carga por colaborador</a:t>
            </a:r>
          </a:p>
        </p:txBody>
      </p:sp>
      <p:graphicFrame>
        <p:nvGraphicFramePr>
          <p:cNvPr id="3" name="Chart 0"/>
          <p:cNvGraphicFramePr/>
          <p:nvPr/>
        </p:nvGraphicFramePr>
        <p:xfrm>
          <a:off x="609600" y="1463040"/>
          <a:ext cx="6461760" cy="4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Tabla carga"/>
          <p:cNvGraphicFramePr>
            <a:graphicFrameLocks noGrp="1"/>
          </p:cNvGraphicFramePr>
          <p:nvPr/>
        </p:nvGraphicFramePr>
        <p:xfrm>
          <a:off x="7315200" y="1828800"/>
          <a:ext cx="4267200" cy="2987040"/>
        </p:xfrm>
        <a:graphic>
          <a:graphicData uri="http://schemas.openxmlformats.org/drawingml/2006/table">
            <a:tbl>
              <a:tblPr/>
              <a:tblGrid>
                <a:gridCol w="134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 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Edwin M.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Henry C.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 actual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Vencidas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Suspendidas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315200" y="499872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chemeClr val="accent3"/>
                </a:solidFill>
              </a:rPr>
              <a:t>Carga total incluye trabajo previo al período.</a:t>
            </a:r>
            <a:endParaRPr lang="en-US" sz="1467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CO" sz="2800" b="1" noProof="0" dirty="0">
                <a:solidFill>
                  <a:schemeClr val="tx1"/>
                </a:solidFill>
              </a:rPr>
              <a:t>Hallazgos del período</a:t>
            </a:r>
            <a:endParaRPr lang="es-CO" sz="2800" noProof="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106070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Tres lecturas que explican el resultado de septiembre.</a:t>
            </a:r>
            <a:endParaRPr lang="es-CO" sz="1300" noProof="0" dirty="0"/>
          </a:p>
        </p:txBody>
      </p:sp>
      <p:sp>
        <p:nvSpPr>
          <p:cNvPr id="4" name="hallazgo-0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5" name="punto-1"/>
          <p:cNvSpPr/>
          <p:nvPr/>
        </p:nvSpPr>
        <p:spPr>
          <a:xfrm>
            <a:off x="960120" y="2039112"/>
            <a:ext cx="384048" cy="384048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1</a:t>
            </a:r>
            <a:endParaRPr lang="es-CO" sz="13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842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18191A"/>
                </a:solidFill>
              </a:rPr>
              <a:t>La operación diaria responde</a:t>
            </a:r>
            <a:endParaRPr lang="es-CO" sz="16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Rutas y tiempos cerró el 95% de lo recibido en 1,8 días promedio. El proceso está estandarizado y no genera represamiento.</a:t>
            </a:r>
            <a:endParaRPr lang="es-CO" sz="1300" noProof="0" dirty="0"/>
          </a:p>
        </p:txBody>
      </p:sp>
      <p:sp>
        <p:nvSpPr>
          <p:cNvPr id="9" name="hallazgo-1"/>
          <p:cNvSpPr/>
          <p:nvPr/>
        </p:nvSpPr>
        <p:spPr>
          <a:xfrm>
            <a:off x="640080" y="32461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0" name="punto-2"/>
          <p:cNvSpPr/>
          <p:nvPr/>
        </p:nvSpPr>
        <p:spPr>
          <a:xfrm>
            <a:off x="960120" y="3502152"/>
            <a:ext cx="384048" cy="384048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502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2</a:t>
            </a:r>
            <a:endParaRPr lang="es-CO" sz="1300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44728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18191A"/>
                </a:solidFill>
              </a:rPr>
              <a:t>Los proyectos no avanzan al ritmo que entran</a:t>
            </a:r>
            <a:endParaRPr lang="es-CO" sz="16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7947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20 solicitudes nuevas contra 2 cierres: el acumulado abierto se duplicó en un mes y 9 proyectos ya están vencidos.</a:t>
            </a:r>
            <a:endParaRPr lang="es-CO" sz="1300" noProof="0" dirty="0"/>
          </a:p>
        </p:txBody>
      </p:sp>
      <p:sp>
        <p:nvSpPr>
          <p:cNvPr id="14" name="hallazgo-2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2F3F5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5" name="punto-3"/>
          <p:cNvSpPr/>
          <p:nvPr/>
        </p:nvSpPr>
        <p:spPr>
          <a:xfrm>
            <a:off x="960120" y="4965192"/>
            <a:ext cx="384048" cy="384048"/>
          </a:xfrm>
          <a:prstGeom prst="ellipse">
            <a:avLst/>
          </a:prstGeom>
          <a:solidFill>
            <a:srgbClr val="FFCD11"/>
          </a:solidFill>
          <a:ln w="12700">
            <a:solidFill>
              <a:srgbClr val="FFCD11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965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1300" b="1" noProof="0" dirty="0">
                <a:solidFill>
                  <a:srgbClr val="18191A"/>
                </a:solidFill>
              </a:rPr>
              <a:t>3</a:t>
            </a:r>
            <a:endParaRPr lang="es-CO" sz="13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91032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600" b="1" noProof="0" dirty="0">
                <a:solidFill>
                  <a:srgbClr val="18191A"/>
                </a:solidFill>
              </a:rPr>
              <a:t>La capacidad es el límite, no la demanda</a:t>
            </a:r>
            <a:endParaRPr lang="es-CO" sz="16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2578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1300" noProof="0" dirty="0">
                <a:solidFill>
                  <a:srgbClr val="4A4F54"/>
                </a:solidFill>
              </a:rPr>
              <a:t>Tres responsables sostienen 69 solicitudes. Cada urgencia de taller desplaza al proyecto, que no tiene fecha comprometida con cliente.</a:t>
            </a:r>
            <a:endParaRPr lang="es-CO" sz="13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90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s-CO" b="0" noProof="0" smtClean="0"/>
              <a:t>6</a:t>
            </a:fld>
            <a:endParaRPr lang="es-CO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09600" y="426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Detalle de proyectos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39840"/>
            <a:ext cx="609600" cy="3657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333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26" name="Resumen proyectos"/>
          <p:cNvSpPr txBox="1"/>
          <p:nvPr/>
        </p:nvSpPr>
        <p:spPr>
          <a:xfrm>
            <a:off x="609600" y="1298448"/>
            <a:ext cx="10972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00">
                <a:solidFill>
                  <a:srgbClr val="3A3A3A"/>
                </a:solidFill>
                <a:latin typeface="Calibri"/>
              </a:rPr>
              <a:t>19 proyectos solicitados en septiembre:  8 vencidos  ·  3 suspendidos  ·  5 a tiempo  ·  3 cerrados</a:t>
            </a:r>
          </a:p>
        </p:txBody>
      </p:sp>
      <p:graphicFrame>
        <p:nvGraphicFramePr>
          <p:cNvPr id="27" name="Tabla proyectos"/>
          <p:cNvGraphicFramePr>
            <a:graphicFrameLocks noGrp="1"/>
          </p:cNvGraphicFramePr>
          <p:nvPr/>
        </p:nvGraphicFramePr>
        <p:xfrm>
          <a:off x="609600" y="1645920"/>
          <a:ext cx="10972800" cy="4009644"/>
        </p:xfrm>
        <a:graphic>
          <a:graphicData uri="http://schemas.openxmlformats.org/drawingml/2006/table">
            <a:tbl>
              <a:tblPr/>
              <a:tblGrid>
                <a:gridCol w="5029200"/>
                <a:gridCol w="1600200"/>
                <a:gridCol w="868680"/>
                <a:gridCol w="868680"/>
                <a:gridCol w="548640"/>
                <a:gridCol w="1188720"/>
                <a:gridCol w="8686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Proyecto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Solicitud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Cierre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Días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PUNTO FIJO GRINDER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Escuadra Para Alesadoras CNC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Henry Candelario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PUNTO FIJO GRANALLADO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Optimización de Parámetros de Roscado con Machuelo en Máquinas CNC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Henry Candelario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09/09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DISPOSITIVO AGUJAS DEVAP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10/09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RECUPERACIÓN RODILLO GALVANIZADO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Edwin Meza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22/09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Guardas protectoras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23/09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SUPERFINISHER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23/09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Vencido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Correción Soldadura viajeros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02/09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Suspendido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Instalar Mandriles en el centro punto de los torno convencionales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Henry Candelario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Suspendido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Pull Down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11/09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Suspendido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Mejoramiento del cromado para rotores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Edwin Meza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 tiempo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Cromar varios vastagos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Edwin Meza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04/09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 tiempo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PRUEBA RECTIFICADO CONO GRINDER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Edwin Meza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23/09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 tiempo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Definición y estandarización de criterios de reparación para alojamientos de válvulas en pistones levante e inclinacion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Edwin Meza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25/09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 tiempo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PRUEBA BANDA LIJA PROOVEDOR VSM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30/09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 tiempo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FALCON 1000 1ER ETAPA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07/09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10/09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Cerrado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PRUEBA BANDA LIJA 180 POLICHADO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09/09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10/09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Cerrado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  <a:tr h="1965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Seguimiento bandas VSM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Carlos Martinez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28/09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01/10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11111"/>
                          </a:solidFill>
                          <a:latin typeface="Calibri"/>
                        </a:rPr>
                        <a:t>Cerrado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solidFill>
                      <a:srgbClr val="FFC20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11111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9D9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lianz">
  <a:themeElements>
    <a:clrScheme name="Relianz">
      <a:dk1>
        <a:srgbClr val="18191A"/>
      </a:dk1>
      <a:lt1>
        <a:srgbClr val="FFFFFF"/>
      </a:lt1>
      <a:dk2>
        <a:srgbClr val="4A4F54"/>
      </a:dk2>
      <a:lt2>
        <a:srgbClr val="F2F3F5"/>
      </a:lt2>
      <a:accent1>
        <a:srgbClr val="FFCD11"/>
      </a:accent1>
      <a:accent2>
        <a:srgbClr val="18191A"/>
      </a:accent2>
      <a:accent3>
        <a:srgbClr val="8A9096"/>
      </a:accent3>
      <a:accent4>
        <a:srgbClr val="B3261E"/>
      </a:accent4>
      <a:accent5>
        <a:srgbClr val="D9DBDE"/>
      </a:accent5>
      <a:accent6>
        <a:srgbClr val="5C636A"/>
      </a:accent6>
      <a:hlink>
        <a:srgbClr val="0B5FFF"/>
      </a:hlink>
      <a:folHlink>
        <a:srgbClr val="6B7280"/>
      </a:folHlink>
    </a:clrScheme>
    <a:fontScheme name="Relianz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475</Words>
  <Application>Microsoft Office PowerPoint</Application>
  <PresentationFormat>Panorámica</PresentationFormat>
  <Paragraphs>100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Calibri</vt:lpstr>
      <vt:lpstr>Relianz</vt:lpstr>
      <vt:lpstr>Reporte de Gestión</vt:lpstr>
      <vt:lpstr>Resumen de septiembre</vt:lpstr>
      <vt:lpstr>Presentación de PowerPoint</vt:lpstr>
      <vt:lpstr>Solicitados vs cerrados por semana</vt:lpstr>
      <vt:lpstr>Carga por colaborador</vt:lpstr>
      <vt:lpstr>Hallazgos del período</vt:lpstr>
    </vt:vector>
  </TitlesOfParts>
  <Company>Relianz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Gestión - Ingeniería y Desarrollo - Septiembre 2026</dc:title>
  <dc:subject>PptxGenJS Presentation</dc:subject>
  <dc:creator>Edwin Meza</dc:creator>
  <cp:lastModifiedBy>Edwin Jose Meza Guerra</cp:lastModifiedBy>
  <cp:revision>4</cp:revision>
  <dcterms:created xsi:type="dcterms:W3CDTF">2026-10-05T13:20:27Z</dcterms:created>
  <dcterms:modified xsi:type="dcterms:W3CDTF">2026-10-05T14:43:11Z</dcterms:modified>
</cp:coreProperties>
</file>